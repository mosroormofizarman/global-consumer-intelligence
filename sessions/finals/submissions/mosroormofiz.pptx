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33EF3-B376-4F7E-9E55-BB23A3F1594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3481A-DCCE-40A4-AA64-5D5D6443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82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3481A-DCCE-40A4-AA64-5D5D64435A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xgboost.readthedocs.io/" TargetMode="External"/><Relationship Id="rId7" Type="http://schemas.openxmlformats.org/officeDocument/2006/relationships/hyperlink" Target="https://www2.deloitte.com/us/en/pages/technology-media-and-telecommunications/articles/telecommunications-industry-outlook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eaborn.pydata.org/" TargetMode="External"/><Relationship Id="rId5" Type="http://schemas.openxmlformats.org/officeDocument/2006/relationships/hyperlink" Target="https://pandas.pydata.org/" TargetMode="External"/><Relationship Id="rId4" Type="http://schemas.openxmlformats.org/officeDocument/2006/relationships/hyperlink" Target="https://scikit-learn.org/stab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011680"/>
            <a:ext cx="10817352" cy="299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Segoe UI"/>
              </a:defRPr>
            </a:pPr>
            <a:r>
              <a:rPr sz="2000" dirty="0"/>
              <a:t>PROOF OF CONCEPT  |  COMPANY A WIRELESS TELECOM</a:t>
            </a:r>
          </a:p>
          <a:p>
            <a:pPr>
              <a:spcBef>
                <a:spcPts val="800"/>
              </a:spcBef>
              <a:defRPr sz="5400" b="1">
                <a:solidFill>
                  <a:srgbClr val="FFFFFF"/>
                </a:solidFill>
                <a:latin typeface="Trebuchet MS"/>
              </a:defRPr>
            </a:pPr>
            <a:r>
              <a:rPr dirty="0"/>
              <a:t>Smart Plan Migration</a:t>
            </a:r>
          </a:p>
          <a:p>
            <a:pPr>
              <a:spcBef>
                <a:spcPts val="800"/>
              </a:spcBef>
              <a:defRPr sz="1600">
                <a:solidFill>
                  <a:srgbClr val="B9C3D7"/>
                </a:solidFill>
                <a:latin typeface="Segoe UI"/>
              </a:defRPr>
            </a:pPr>
            <a:r>
              <a:rPr sz="2400" dirty="0"/>
              <a:t>Transforming Telecom 'Bill-Shock' into Recurring Premium Revenue via Predictive ML Upselling</a:t>
            </a:r>
          </a:p>
          <a:p>
            <a:pPr>
              <a:spcBef>
                <a:spcPts val="4500"/>
              </a:spcBef>
              <a:defRPr sz="1000">
                <a:solidFill>
                  <a:srgbClr val="8291A5"/>
                </a:solidFill>
                <a:latin typeface="Segoe UI"/>
              </a:defRPr>
            </a:pPr>
            <a:r>
              <a:rPr sz="1600" dirty="0"/>
              <a:t>Prepared by: </a:t>
            </a:r>
            <a:r>
              <a:rPr lang="en-US" sz="1600" dirty="0"/>
              <a:t>MOSROOR MOFIZ ARMAN(Omnicampus Name: </a:t>
            </a:r>
            <a:r>
              <a:rPr lang="en-US" sz="1600" dirty="0" err="1"/>
              <a:t>mosroormofiz</a:t>
            </a:r>
            <a:r>
              <a:rPr lang="en-US" sz="1600" dirty="0"/>
              <a:t>)</a:t>
            </a:r>
            <a:r>
              <a:rPr sz="1600" dirty="0"/>
              <a:t>   |   GCI World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sz="2400" dirty="0"/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I. Analysis &amp; Modeling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Current Market Landscape &amp; Problem Statement: Traditional churn vs. proactive upselling.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Exploratory Data Analysis &amp; Target Identification: The overage structure.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Machine Learning Framework: Comparing baseline and advanced models.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Validity &amp; Precision-Recall Balancing: Identifying the right threshold.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II. Business Proposal &amp; Financials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Overage Upsell Proposal: Campaign design, targeting logic, and win-win migration.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Projected Financial Impact: Waterfall chart of ARPU lift and saved CLV.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Risk Assessment &amp; Sensitivity Analysis: ROI resilience testing.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Commercial Quotation &amp; Partnership: One-time system licensing and ongoing support.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Implementation Roadmap: Structured 3-phase rollout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MARKET CONTEXT: THE COST OF BILL-SHOCK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Telecom Industry Context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Overage Pain Point: High overages are a primary source of customer friction, resulting in customer anger and sudden churn.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Market Shifts: With competitive flat-rate and unlimited options, customers demand predictable monthly charges.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Traditional Churn Limits: Standard churn models are reactive. By the time a customer is identified, they are already dissatisfied. Preempting this with upsell plans preserves margins.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1.9x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CHURN RISK MULTIPLIER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sz="850" dirty="0"/>
              <a:t>Overage candidates churn at nearly double the rate of regular subscribers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57.1%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OVERAGE PENETRATION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sz="850" dirty="0"/>
              <a:t>Over half of the active customer base suffers monthly bill-shock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sz="2400" dirty="0"/>
              <a:t>HYPOTHESIS &amp; EDA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The Target Hypothesis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Rather than waiting for churn, we target customers on the WRONG plans.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Upsell Candidate definition:</a:t>
            </a:r>
            <a:br>
              <a:rPr sz="1200" dirty="0"/>
            </a:br>
            <a:r>
              <a:rPr sz="1200" dirty="0"/>
              <a:t>- Monthly overage &gt;= 15% of total bill, OR</a:t>
            </a:r>
            <a:br>
              <a:rPr sz="1200" dirty="0"/>
            </a:br>
            <a:r>
              <a:rPr sz="1200" dirty="0"/>
              <a:t>- Absolute overage &gt;= $29.20 (top quartile of overage payers).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This cohort accounts for 34.6% of the customer base.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Migrating them to premium plans is a value-creating, margin-positive play.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45920"/>
            <a:ext cx="18288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34.6%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COHORT SIZE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Subscribers identified as upsell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4023360"/>
            <a:ext cx="18288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$23.67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AVG OVERAGE FEE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Mean monthly penalty paid by mismatched users</a:t>
            </a:r>
          </a:p>
        </p:txBody>
      </p:sp>
      <p:pic>
        <p:nvPicPr>
          <p:cNvPr id="6" name="Picture 5" descr="chur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07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DATA ENGINEERING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Dataset Merging &amp; Imputation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Data Ingestion: Client demographics (Client.csv) and usage history (Record.csv) were inner-joined on </a:t>
            </a:r>
            <a:r>
              <a:rPr sz="1200" dirty="0" err="1"/>
              <a:t>Customer_ID</a:t>
            </a:r>
            <a:r>
              <a:rPr sz="1200" dirty="0"/>
              <a:t> (100k matched rows).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Imputation: Numeric nulls filled with median values; categorical nulls filled with mode values. Columns with high missingness (e.g. </a:t>
            </a:r>
            <a:r>
              <a:rPr sz="1200" dirty="0" err="1"/>
              <a:t>numbcars</a:t>
            </a:r>
            <a:r>
              <a:rPr sz="1200" dirty="0"/>
              <a:t>, </a:t>
            </a:r>
            <a:r>
              <a:rPr sz="1200" dirty="0" err="1"/>
              <a:t>dwllsize</a:t>
            </a:r>
            <a:r>
              <a:rPr sz="1200" dirty="0"/>
              <a:t>) imputed to retain context.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Encoding: Categorical columns (area, marital status, credit availability) converted via </a:t>
            </a:r>
            <a:r>
              <a:rPr sz="1200" dirty="0" err="1"/>
              <a:t>LabelEncoding</a:t>
            </a:r>
            <a:r>
              <a:rPr sz="1200" dirty="0"/>
              <a:t> for the tree-based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Custom Feature Engineering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Overage-to-Revenue Ratio: Measures target segment alignment. Excluded during training to prevent target leakage.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Usage Dropoff Rate: Captures percentage change in minutes of use (</a:t>
            </a:r>
            <a:r>
              <a:rPr sz="1200" dirty="0" err="1"/>
              <a:t>change_mou</a:t>
            </a:r>
            <a:r>
              <a:rPr sz="1200" dirty="0"/>
              <a:t> / </a:t>
            </a:r>
            <a:r>
              <a:rPr sz="1200" dirty="0" err="1"/>
              <a:t>mou_Mean</a:t>
            </a:r>
            <a:r>
              <a:rPr sz="1200" dirty="0"/>
              <a:t>). Highlights disengaging customers vs. growing usage profiles.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Revenue Per MOU: Mean revenue divided by monthly usage minutes. Serves as a plan-efficiency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MODEL COMPARISON: BASELINE VS. ADVANCED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48463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Evaluating Modeling Frameworks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Baseline Model: Logistic Regression with </a:t>
            </a:r>
            <a:r>
              <a:rPr sz="1200" dirty="0" err="1"/>
              <a:t>StandardScaler</a:t>
            </a:r>
            <a:r>
              <a:rPr sz="1200" dirty="0"/>
              <a:t>. Achieves a strong ROC-AUC of 93.5% and PR-AUC of 88.9%.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Advanced Model: </a:t>
            </a:r>
            <a:r>
              <a:rPr sz="1200" dirty="0" err="1"/>
              <a:t>XGBoost</a:t>
            </a:r>
            <a:r>
              <a:rPr sz="1200" dirty="0"/>
              <a:t> Classifier. Leverages non-linear feature interactions to boost performance, reaching an outstanding **97.3% ROC-AUC** and **94.9% PR-AUC**.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Model Selection: </a:t>
            </a:r>
            <a:r>
              <a:rPr sz="1200" dirty="0" err="1"/>
              <a:t>XGBoost</a:t>
            </a:r>
            <a:r>
              <a:rPr sz="1200" dirty="0"/>
              <a:t> is chosen as the Champion Model. The +3.8% ROC-AUC and +6.0% Average Precision gains translate directly to thousands of correctly identified targets, maximizing campaign efficiency.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08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OVERVIEW OF THE CHAMPION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3291840"/>
            <a:ext cx="48463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 err="1"/>
              <a:t>XGBoost</a:t>
            </a:r>
            <a:r>
              <a:rPr sz="1600" dirty="0"/>
              <a:t> Configuration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Algorithm: </a:t>
            </a:r>
            <a:r>
              <a:rPr sz="1200" dirty="0" err="1"/>
              <a:t>XGBoost</a:t>
            </a:r>
            <a:r>
              <a:rPr sz="1200" dirty="0"/>
              <a:t> Ensemble Classifier (100 base trees, learning rate 0.1, max depth 5).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Features: 96 predictors spanning billing history, demographics, and drop call patterns.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Data Leakage Prevention: Excluded direct overage features (</a:t>
            </a:r>
            <a:r>
              <a:rPr sz="1200" dirty="0" err="1"/>
              <a:t>ovrrev</a:t>
            </a:r>
            <a:r>
              <a:rPr sz="1200" dirty="0"/>
              <a:t>, </a:t>
            </a:r>
            <a:r>
              <a:rPr sz="1200" dirty="0" err="1"/>
              <a:t>ovrmou</a:t>
            </a:r>
            <a:r>
              <a:rPr sz="1200" dirty="0"/>
              <a:t>, </a:t>
            </a:r>
            <a:r>
              <a:rPr sz="1200" dirty="0" err="1"/>
              <a:t>datovr</a:t>
            </a:r>
            <a:r>
              <a:rPr sz="1200" dirty="0"/>
              <a:t>, </a:t>
            </a:r>
            <a:r>
              <a:rPr sz="1200" dirty="0" err="1"/>
              <a:t>vceovr</a:t>
            </a:r>
            <a:r>
              <a:rPr sz="1200" dirty="0"/>
              <a:t>) from training to ensure validity on unseen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28600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96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INPUT FEATURES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sz="850" dirty="0"/>
              <a:t>Predictors utilized in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228600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1.89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POS WEIGHT ADJ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sz="850" dirty="0"/>
              <a:t>Class weight adjustment for imbalance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12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CHAMPION MODEL VALIDITY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3840480"/>
            <a:ext cx="48463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Model Evaluation Metrics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Overall Test Set Accuracy: 92.0%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Target Class Precision: 86.0% (minimizes marketing spend waste)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Target Class Recall: 93.0% (captures the vast majority of target cohort)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286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97.3%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MODEL ROC-AUC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Excellent class separation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2286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94.9%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AVERAGE PRECISION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Very low false positive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000472"/>
              </p:ext>
            </p:extLst>
          </p:nvPr>
        </p:nvGraphicFramePr>
        <p:xfrm>
          <a:off x="6400800" y="256032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200"/>
                        <a:t>Class Label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200" dirty="0"/>
                        <a:t>Pred. Regular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200"/>
                        <a:t>Pred. Upsell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rPr sz="1200"/>
                        <a:t>True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rPr sz="1200"/>
                        <a:t>11,888 (92%)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rPr sz="1200"/>
                        <a:t>1,189 (8%)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rPr sz="1200" dirty="0"/>
                        <a:t>True Upsell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rPr sz="1200"/>
                        <a:t>502 (7%)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rPr sz="1200" dirty="0"/>
                        <a:t>6,421 (93%)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73736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Model Validation Results (Test Set, N = 20,000)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754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rPr sz="1200" dirty="0"/>
              <a:t>• Model achieves a low False Positive rate (8%), which is critical to avoid contacting customers who are already on the correct plan.</a:t>
            </a:r>
            <a:br>
              <a:rPr sz="1200" dirty="0"/>
            </a:br>
            <a:r>
              <a:rPr sz="1200" dirty="0"/>
              <a:t>• High recall (93%) ensures we capture almost all potential upsell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REVENUE MAXIMIZATION PROPOSAL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3840480"/>
            <a:ext cx="48463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Proposal Parameters &amp; Campaign Logic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Migration uplift: Assuming 10% conversion to Premium Plan (+¥5,000/</a:t>
            </a:r>
            <a:r>
              <a:rPr sz="1200" dirty="0" err="1"/>
              <a:t>mo</a:t>
            </a:r>
            <a:r>
              <a:rPr sz="1200" dirty="0"/>
              <a:t>), generating ¥193.3 Million annually.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Saved Churn: Retaining 20% of converted customers who would have otherwise churned, saving ¥123.6 Million in Lifetime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286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¥298.2M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NET ANNUAL PROFIT LIFT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Annual ARPU lift + Churn-save value minus campaign contact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2286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1,586%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CAMPAIGN ROI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Exceptional return due to highly targeted outreach</a:t>
            </a:r>
          </a:p>
        </p:txBody>
      </p:sp>
      <p:pic>
        <p:nvPicPr>
          <p:cNvPr id="6" name="Picture 5" descr="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510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SENSITIVITY ANALYSIS &amp; RISK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3840480"/>
            <a:ext cx="48463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Project Resilience Metrics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Resilience: Highly profitable even in worst-case scenarios. At a low 5% conversion rate, the campaign generates ¥139.7 Million in net value.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Brand Protection: Strong precision prevents spamming correctly-aligned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286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1.5%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BREAK-EVEN CONVERSION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Extremely low threshold for profitability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22860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3800" b="1">
                <a:solidFill>
                  <a:srgbClr val="FF5722"/>
                </a:solidFill>
                <a:latin typeface="Segoe UI"/>
              </a:defRPr>
            </a:pPr>
            <a:r>
              <a:rPr dirty="0">
                <a:solidFill>
                  <a:schemeClr val="tx2"/>
                </a:solidFill>
              </a:rPr>
              <a:t>¥139.7M</a:t>
            </a:r>
          </a:p>
          <a:p>
            <a:pPr>
              <a:spcBef>
                <a:spcPts val="400"/>
              </a:spcBef>
              <a:defRPr sz="950" b="1">
                <a:solidFill>
                  <a:srgbClr val="102542"/>
                </a:solidFill>
                <a:latin typeface="Trebuchet MS"/>
              </a:defRPr>
            </a:pPr>
            <a:r>
              <a:rPr sz="1200" dirty="0"/>
              <a:t>WORST-CASE NET GAIN</a:t>
            </a:r>
          </a:p>
          <a:p>
            <a:pPr>
              <a:spcBef>
                <a:spcPts val="200"/>
              </a:spcBef>
              <a:defRPr sz="850">
                <a:solidFill>
                  <a:srgbClr val="6C757D"/>
                </a:solidFill>
                <a:latin typeface="Segoe UI"/>
              </a:defRPr>
            </a:pPr>
            <a:r>
              <a:rPr dirty="0"/>
              <a:t>Projected net value at a low 5% conversion rate</a:t>
            </a:r>
          </a:p>
        </p:txBody>
      </p:sp>
      <p:pic>
        <p:nvPicPr>
          <p:cNvPr id="6" name="Picture 5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512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/>
              <a:t>COMMERCIAL PROPOSAL &amp; PRICING STRUCTURES</a:t>
            </a:r>
            <a:endParaRPr lang="en-US"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AI Software &amp; Model License (One-Time)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Model Integration Fee: ¥30,000,000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Scope of Work:</a:t>
            </a:r>
            <a:br>
              <a:rPr sz="1200" dirty="0"/>
            </a:br>
            <a:r>
              <a:rPr sz="1200" dirty="0"/>
              <a:t>- Deployment of the </a:t>
            </a:r>
            <a:r>
              <a:rPr sz="1200" dirty="0" err="1"/>
              <a:t>XGBoost</a:t>
            </a:r>
            <a:r>
              <a:rPr sz="1200" dirty="0"/>
              <a:t> pipeline in your local infrastructure.</a:t>
            </a:r>
            <a:br>
              <a:rPr sz="1200" dirty="0"/>
            </a:br>
            <a:r>
              <a:rPr sz="1200" dirty="0"/>
              <a:t>- Database connections to automate daily data uploads.</a:t>
            </a:r>
            <a:br>
              <a:rPr sz="1200" dirty="0"/>
            </a:br>
            <a:r>
              <a:rPr sz="1200" dirty="0"/>
              <a:t>- Custom dashboard showing top candidates and campaign performance.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Pricing Justification: This one-time fee corresponds to ~10% of the projected Net Annual Lift of ¥298 Million, showing immediate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sz="1600" dirty="0"/>
              <a:t>Long-Term Consulting &amp; Model Updates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Monthly Retainer Fee: ¥2,500,000 / month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Scope of Services:</a:t>
            </a:r>
            <a:br>
              <a:rPr sz="1200" dirty="0"/>
            </a:br>
            <a:r>
              <a:rPr sz="1200" dirty="0"/>
              <a:t>- Dedicated support from a Senior IT Consultant &amp; Lead Data Scientist.</a:t>
            </a:r>
            <a:br>
              <a:rPr sz="1200" dirty="0"/>
            </a:br>
            <a:r>
              <a:rPr sz="1200" dirty="0"/>
              <a:t>- Quarterly model retraining to prevent data drift and capture changing patterns.</a:t>
            </a:r>
            <a:br>
              <a:rPr sz="1200" dirty="0"/>
            </a:br>
            <a:r>
              <a:rPr sz="1200" dirty="0"/>
              <a:t>- A/B testing support for marketing campaigns and sales scripts.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Long-Term Time Series Analysis: Incorporating external economic data and foreign exchange trends to adjust plans.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ROADMAP: EXECUTION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lang="en-US" sz="1600" dirty="0"/>
              <a:t>I</a:t>
            </a:r>
            <a:r>
              <a:rPr sz="1600" dirty="0"/>
              <a:t>. Pilot &amp; A/B Testing (Month 1)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Select a random pilot group of 5,000 flagged customers.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Contact half with the new offer, keeping the other half as control.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Validate the assumed 10% conversion rate and ARPU increase.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lang="en-US" sz="1600" dirty="0"/>
              <a:t>II</a:t>
            </a:r>
            <a:r>
              <a:rPr sz="1600" dirty="0"/>
              <a:t>. Plan &amp; Script Optimization (Month 2)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Design the marketing materials and customer portal upgrade screens.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Train representatives with supportive, 'bill protection' sales scripts.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Finalize data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64592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02542"/>
                </a:solidFill>
                <a:latin typeface="Trebuchet MS"/>
              </a:defRPr>
            </a:pPr>
            <a:r>
              <a:rPr lang="en-US" sz="1600" dirty="0"/>
              <a:t>III</a:t>
            </a:r>
            <a:r>
              <a:rPr sz="1600" dirty="0"/>
              <a:t>. Full-Scale Launch (Month 3+)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Roll out targeting base-wide to all model-identified customers.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Monitor retention trends to verify the projected 20% churn decrease.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Retrain model quarterly.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Segoe UI"/>
              </a:defRPr>
            </a:pPr>
            <a:r>
              <a:rPr lang="en-US" sz="2400" dirty="0"/>
              <a:t>TECHNICAL DISCLOSURES &amp; REFERENCES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AI Usage Disclosure: Generative AI (Gemini) was used(</a:t>
            </a:r>
            <a:r>
              <a:rPr lang="en-US" sz="1200" dirty="0"/>
              <a:t>Chat history</a:t>
            </a:r>
            <a:r>
              <a:rPr sz="1200" dirty="0"/>
              <a:t>: </a:t>
            </a:r>
            <a:r>
              <a:rPr lang="en-US" sz="1200" dirty="0"/>
              <a:t>https://gemini.google.com/share/3b8fec4b63b6</a:t>
            </a:r>
            <a:r>
              <a:rPr sz="1200" dirty="0"/>
              <a:t>).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Project Notebook: The complete codebase is available at</a:t>
            </a:r>
            <a:r>
              <a:rPr lang="en-US" sz="1200" dirty="0"/>
              <a:t> </a:t>
            </a:r>
            <a:r>
              <a:rPr lang="en-US" sz="1200" dirty="0" err="1"/>
              <a:t>mosroormofiz</a:t>
            </a:r>
            <a:r>
              <a:rPr sz="1200" dirty="0" err="1"/>
              <a:t>.ipynb</a:t>
            </a:r>
            <a:r>
              <a:rPr sz="1200" dirty="0"/>
              <a:t>, containing all raw charts and feature processing.</a:t>
            </a:r>
            <a:endParaRPr lang="en-US" sz="1200" dirty="0"/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</a:t>
            </a:r>
            <a:r>
              <a:rPr lang="en-US" sz="1200" dirty="0"/>
              <a:t>Technical References</a:t>
            </a:r>
            <a:r>
              <a:rPr sz="1200" dirty="0"/>
              <a:t>:</a:t>
            </a:r>
            <a:br>
              <a:rPr sz="1200" dirty="0"/>
            </a:br>
            <a:r>
              <a:rPr lang="en-US" sz="1200" dirty="0"/>
              <a:t>-   Chen, T., &amp; </a:t>
            </a:r>
            <a:r>
              <a:rPr lang="en-US" sz="1200" dirty="0" err="1"/>
              <a:t>Guestrin</a:t>
            </a:r>
            <a:r>
              <a:rPr lang="en-US" sz="1200" dirty="0"/>
              <a:t>, C. (2016). </a:t>
            </a:r>
            <a:r>
              <a:rPr lang="en-US" sz="1200" dirty="0" err="1"/>
              <a:t>XGBoost</a:t>
            </a:r>
            <a:r>
              <a:rPr lang="en-US" sz="1200" dirty="0"/>
              <a:t>: A Scalable Tree Boosting System. Proceedings of the 22nd ACM SIGKDD International Conference on Knowledge Discovery and Data Mining, 785–794. (</a:t>
            </a:r>
            <a:r>
              <a:rPr lang="en-US" sz="1200" dirty="0">
                <a:hlinkClick r:id="rId3"/>
              </a:rPr>
              <a:t>https://xgboost.readthedocs.io/</a:t>
            </a:r>
            <a:r>
              <a:rPr lang="en-US" sz="1200" dirty="0"/>
              <a:t>)</a:t>
            </a:r>
          </a:p>
          <a:p>
            <a:pPr marL="171450" indent="-171450">
              <a:spcBef>
                <a:spcPts val="600"/>
              </a:spcBef>
              <a:buFontTx/>
              <a:buChar char="-"/>
              <a:defRPr sz="1000">
                <a:solidFill>
                  <a:srgbClr val="212529"/>
                </a:solidFill>
                <a:latin typeface="Segoe UI"/>
              </a:defRPr>
            </a:pPr>
            <a:r>
              <a:rPr lang="en-US" sz="1200" dirty="0"/>
              <a:t>Pedregosa, F. et al. (2011). Scikit-learn: Machine Learning in Python. Journal of Machine Learning Research, 12, 2825–2830. (</a:t>
            </a:r>
            <a:r>
              <a:rPr lang="en-US" sz="1200" dirty="0">
                <a:hlinkClick r:id="rId4"/>
              </a:rPr>
              <a:t>https://scikit-learn.org/stable/</a:t>
            </a:r>
            <a:r>
              <a:rPr lang="en-US" sz="1200" dirty="0"/>
              <a:t>)</a:t>
            </a:r>
          </a:p>
          <a:p>
            <a:pPr marL="171450" indent="-171450">
              <a:spcBef>
                <a:spcPts val="600"/>
              </a:spcBef>
              <a:buFontTx/>
              <a:buChar char="-"/>
              <a:defRPr sz="1000">
                <a:solidFill>
                  <a:srgbClr val="212529"/>
                </a:solidFill>
                <a:latin typeface="Segoe UI"/>
              </a:defRPr>
            </a:pPr>
            <a:r>
              <a:rPr lang="en-US" sz="1200" dirty="0"/>
              <a:t>McKinney, W. (2010). Data Structures for Statistical Computing in Python. Proceedings of the 9th Python in Science Conference, 56–61. (</a:t>
            </a:r>
            <a:r>
              <a:rPr lang="en-US" sz="1200" dirty="0">
                <a:hlinkClick r:id="rId5"/>
              </a:rPr>
              <a:t>https://pandas.pydata.org/</a:t>
            </a:r>
            <a:r>
              <a:rPr lang="en-US" sz="1200" dirty="0"/>
              <a:t>)</a:t>
            </a:r>
          </a:p>
          <a:p>
            <a:pPr marL="171450" indent="-171450">
              <a:spcBef>
                <a:spcPts val="600"/>
              </a:spcBef>
              <a:buFontTx/>
              <a:buChar char="-"/>
              <a:defRPr sz="1000">
                <a:solidFill>
                  <a:srgbClr val="212529"/>
                </a:solidFill>
                <a:latin typeface="Segoe UI"/>
              </a:defRPr>
            </a:pPr>
            <a:r>
              <a:rPr lang="en-US" sz="1200" dirty="0"/>
              <a:t>Hunter, J.D. (2007). Matplotlib: A 2D Graphics Environment. Computing in Science &amp; Engineering, 9(3), 90–95. (https://matplotlib.org/ and </a:t>
            </a:r>
            <a:r>
              <a:rPr lang="en-US" sz="1200" dirty="0">
                <a:hlinkClick r:id="rId6"/>
              </a:rPr>
              <a:t>https://seaborn.pydata.org/</a:t>
            </a:r>
            <a:r>
              <a:rPr lang="en-US" sz="1200" dirty="0"/>
              <a:t>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Segoe UI"/>
              </a:defRPr>
            </a:pPr>
            <a:r>
              <a:rPr sz="1200" dirty="0"/>
              <a:t>• </a:t>
            </a:r>
            <a:r>
              <a:rPr lang="en-US" sz="1200" dirty="0"/>
              <a:t>Domain &amp; Business References:</a:t>
            </a:r>
          </a:p>
          <a:p>
            <a:pPr marL="171450" indent="-171450">
              <a:spcBef>
                <a:spcPts val="600"/>
              </a:spcBef>
              <a:buFontTx/>
              <a:buChar char="-"/>
              <a:defRPr sz="1000">
                <a:solidFill>
                  <a:srgbClr val="212529"/>
                </a:solidFill>
                <a:latin typeface="Segoe UI"/>
              </a:defRPr>
            </a:pPr>
            <a:r>
              <a:rPr lang="en-US" sz="1200" dirty="0"/>
              <a:t>Vafeiadis, T. et al. (2015). A comparison of machine learning techniques for customer churn prediction. Simulation Modelling Practice and Theory, 55, 1–9.</a:t>
            </a:r>
          </a:p>
          <a:p>
            <a:pPr marL="171450" indent="-171450">
              <a:spcBef>
                <a:spcPts val="600"/>
              </a:spcBef>
              <a:buFontTx/>
              <a:buChar char="-"/>
              <a:defRPr sz="1000">
                <a:solidFill>
                  <a:srgbClr val="212529"/>
                </a:solidFill>
                <a:latin typeface="Segoe UI"/>
              </a:defRPr>
            </a:pPr>
            <a:r>
              <a:rPr lang="en-US" sz="1200" dirty="0"/>
              <a:t>Deloitte. (2023). Telecommunications Industry Outlook. Deloitte Insights. (</a:t>
            </a:r>
            <a:r>
              <a:rPr lang="en-US" sz="1200" dirty="0">
                <a:hlinkClick r:id="rId7"/>
              </a:rPr>
              <a:t>https://www2.deloitte.com/us/en/pages/technology-media-and-telecommunications/articles/telecommunications-industry-outlook.html</a:t>
            </a:r>
            <a:r>
              <a:rPr lang="en-US" sz="1200" dirty="0"/>
              <a:t>)</a:t>
            </a:r>
          </a:p>
          <a:p>
            <a:pPr marL="171450" indent="-171450">
              <a:spcBef>
                <a:spcPts val="600"/>
              </a:spcBef>
              <a:buFontTx/>
              <a:buChar char="-"/>
              <a:defRPr sz="1000">
                <a:solidFill>
                  <a:srgbClr val="212529"/>
                </a:solidFill>
                <a:latin typeface="Segoe UI"/>
              </a:defRPr>
            </a:pPr>
            <a:r>
              <a:rPr lang="en-US" sz="1200" dirty="0"/>
              <a:t>McKinsey &amp; Company. (2022). Telco revenue growth: A data-driven playbook. (https://www.mckinsey.com/industries/technology-media-and-telecommunications/)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1614</Words>
  <Application>Microsoft Office PowerPoint</Application>
  <PresentationFormat>Widescreen</PresentationFormat>
  <Paragraphs>140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MOSROOR</cp:lastModifiedBy>
  <cp:revision>26</cp:revision>
  <dcterms:created xsi:type="dcterms:W3CDTF">2013-01-27T09:14:16Z</dcterms:created>
  <dcterms:modified xsi:type="dcterms:W3CDTF">2026-06-12T23:21:27Z</dcterms:modified>
  <cp:category/>
</cp:coreProperties>
</file>